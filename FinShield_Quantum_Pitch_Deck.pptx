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HUMAN-MANIPULATION FRAUD FIREWALL FOR BANKS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FinShield Quantum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94A3B8"/>
                </a:solidFill>
              </a:defRPr>
            </a:pPr>
            <a:r>
              <a:t>“Detecting the manipulation behind legitimate transactions.”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389120"/>
            <a:ext cx="10360152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Multimodal AI • Adaptive Firewall • Senior Safety (WCAG AAA) • Post-Quantum Cryptography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Hackathon Pitch Deck | Enterprise Banking Security Infrastructure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INDUSTRY THREAT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$1.5B+ Authorized Push Payment (APP) Scam Crisis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</a:defRPr>
            </a:pPr>
            <a:r>
              <a:t>Why Traditional Fraud Detection Fails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• APP Scams deceive victims into authorizing wire transfers to fraud accounts.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• Social Engineering Coercion: Impersonating bank officers, law enforcement, or urgent family distress.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• Technical Legitimacy: Victims use their real phone, correct password, and pass 2FA/MFA.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• Traditional Fraud Systems see: 'AUTHENTIC TRANSACTION' and allow funds to leave.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• Devastating Impact: Older adults and digitally inexperienced users lose lifetime savings.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Market Impact &amp; Regulatory Mandate</a:t>
            </a:r>
          </a:p>
          <a:p>
            <a:pPr>
              <a:spcBef>
                <a:spcPts val="1000"/>
              </a:spcBef>
              <a:defRPr sz="2200" b="1">
                <a:solidFill>
                  <a:srgbClr val="F59E0B"/>
                </a:solidFill>
              </a:defRPr>
            </a:pPr>
            <a:r>
              <a:t>$1.5 Billion+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Global losses to Authorized Push Payment scams in 2025/2026.</a:t>
            </a:r>
          </a:p>
          <a:p>
            <a:pPr>
              <a:spcBef>
                <a:spcPts val="1000"/>
              </a:spcBef>
              <a:defRPr sz="2200" b="1">
                <a:solidFill>
                  <a:srgbClr val="F59E0B"/>
                </a:solidFill>
              </a:defRPr>
            </a:pPr>
            <a:r>
              <a:t>72% Senior Target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Older adults targeted by vishing coercion calls.</a:t>
            </a:r>
          </a:p>
          <a:p>
            <a:pPr>
              <a:spcBef>
                <a:spcPts val="1000"/>
              </a:spcBef>
              <a:defRPr sz="2200" b="1">
                <a:solidFill>
                  <a:srgbClr val="F59E0B"/>
                </a:solidFill>
              </a:defRPr>
            </a:pPr>
            <a:r>
              <a:t>50% Bank Liability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New UK PSR &amp; US regulatory rules forcing banks to reimburse scam victims.</a:t>
            </a:r>
          </a:p>
          <a:p>
            <a:pPr>
              <a:spcBef>
                <a:spcPts val="1000"/>
              </a:spcBef>
              <a:defRPr sz="2200" b="1">
                <a:solidFill>
                  <a:srgbClr val="F59E0B"/>
                </a:solidFill>
              </a:defRPr>
            </a:pPr>
            <a:r>
              <a:t>&lt; 50ms Window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Banks require real-time inline evaluation before payment finality.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FINSHIELD CORE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Critical Question Paradigm Shift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4A3B8"/>
                </a:solidFill>
              </a:defRPr>
            </a:pPr>
            <a:r>
              <a:t>TRADITIONAL FRAUD SYSTEM</a:t>
            </a:r>
          </a:p>
          <a:p>
            <a:pPr>
              <a:spcBef>
                <a:spcPts val="1000"/>
              </a:spcBef>
              <a:defRPr sz="2000" b="1">
                <a:solidFill>
                  <a:srgbClr val="F43F5E"/>
                </a:solidFill>
              </a:defRPr>
            </a:pPr>
            <a:r>
              <a:t>“Is the transaction legitimate?”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✓ Real User Device ID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✓ Valid Password &amp; PIN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✓ Passed 2FA / OTP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✓ Legitimate Session Token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RESULT: TRANSACTION ALLOWED ❌ (Scam Succeeded)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FINSHIELD QUANTUM FIREWALL</a:t>
            </a:r>
          </a:p>
          <a:p>
            <a:pPr>
              <a:spcBef>
                <a:spcPts val="1000"/>
              </a:spcBef>
              <a:defRPr sz="2000" b="1">
                <a:solidFill>
                  <a:srgbClr val="0EA5E9"/>
                </a:solidFill>
              </a:defRPr>
            </a:pPr>
            <a:r>
              <a:t>“Is the CUSTOMER'S INTENT being manipulated?”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⚠ Scans incoming SMS/calls for coercion NLP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⚠ Evaluates user spending z-score anomaly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⚠ Checks Payee network graph reputation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⚠ Factors in user vulnerability context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RESULT: TRANSACTION HELD ⛔ (₹85,000 Saved)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Multimodal Intelligence Engine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1. Transaction ML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XGBoost Classifier evaluating amount ratio, location shift, and time of 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82880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t>2. Behavior Baseline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Statistical Z-Score Anomaly Detector measuring distance from normal spending.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82880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3. Social NLP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Language Scorer evaluating authority impersonation &amp; urgency keywords in calls/SMS.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82880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4. Fraud Graph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NetworkX Graph computing Payee centrality, shared devices, and collusive scam rings.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406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Multimodal Risk Fusion Formula: Manipulation Score = 0.35(Social NLP) + 0.25(Txn ML) + 0.20(Behavior) + 0.20(Graph) [Adaptive Senior Boost]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DYNAMIC POLICY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4-Tier Adaptive Firewall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ALLOW (0 - 29 Risk)  •  Green Pass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Payment completes seamlessly with zero user friction.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7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VERIFY (30 - 59 Risk)  •  Yellow 2FA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Prompts biometrics or step-up OTP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B5CF6"/>
                </a:solidFill>
              </a:defRPr>
            </a:pPr>
            <a:r>
              <a:t>PAUSE (60 - 84 Risk)  •  Orange Reflection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Pauses transaction for 60 seconds with safety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</a:defRPr>
            </a:pPr>
            <a:r>
              <a:t>HOLD (85 - 100 Risk)  •  Red Interception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Blocks transfer, alerts trusted contact, requires bank 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LIVE WOW DEMONSTRATION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Hero Case Study: Intercepting ₹85,000 APP Scam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Victim Profile &amp; Coercion Context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Victim: Sunita Sharma (Age 72, Digital Skill 3/10)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Transfer Request: ₹85,000 to Rahul Traders (PAY-6350)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SMS Signal: 'SECURITY ALERT: Account frozen. Transfer immediately to safe vault account PAY-6350.'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Vishing Call: 'Officer Sharma from Bank Security: Transfer funds to temporary safe account PAY-6350!'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Authentication: User used real phone, correct PIN, valid OTP.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FinShield AI Interception Verdict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HUMAN MANIPULATION RISK: </a:t>
            </a:r>
          </a:p>
          <a:p>
            <a:pPr>
              <a:defRPr sz="1400" b="1">
                <a:solidFill>
                  <a:srgbClr val="F43F5E"/>
                </a:solidFill>
              </a:defRPr>
            </a:pPr>
            <a:r>
              <a:t>94 / 100 (CRITICAL)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Social NLP Coercion Score: 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96.5 / 100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Transaction Amount Ratio: 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8.5x Normal Average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Fraud Graph Reputation: 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Connected to 7 Scam Networks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ADAPTIVE FIREWALL DECISION: </a:t>
            </a:r>
          </a:p>
          <a:p>
            <a:pPr>
              <a:defRPr sz="1400" b="1">
                <a:solidFill>
                  <a:srgbClr val="F43F5E"/>
                </a:solidFill>
              </a:defRPr>
            </a:pPr>
            <a:r>
              <a:t>⛔ TRANSACTION HELD | ₹85,000 SAVED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INCLUSION &amp; ACCESSIBILITY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Senior Safety &amp; WCAG AAA Alignment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WCAG 2.1 AAA Contrast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High contrast white text (#FFFFFF) on slate-950 background (≥ 7:1 ratio) ensuring zero visual blur.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t>Color + Icon + Text Badges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Multi-cue decision indicators complying with WCAG SC 1.4.1 (not relying on color cues alone).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Speech Synthesis TTS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Web Speech API auto-reads alert warnings at 0.85x speed for vision-impaired or senior users.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02336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206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Family Trusted Contact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Dispatches instant SMS alert to designated family guardian to double-check suspicious transfers.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FUTURE-PROOF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Quantum ML &amp; Post-Quantum Cryptography (PQC)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Post-Quantum Cryptography (PQC)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• NIST FIPS 203 ML-KEM-512 (Kyber) Key Encapsulation Mechanism.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• Protects banking session keys against future Shor's algorithm quantum decryption.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• Executed live handshake: 800-byte Public Key, 768-byte Ciphertext.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• 256-bit AES-GCM Quantum-Resistant Session Shared Secret.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t>Quantum ML &amp; QAOA Research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• Qiskit 4-Qubit QSVC: ZZFeatureMap entangled quantum fidelity kernel classifier.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• Quantum Advantage Delta: +5.0% accuracy improvement over classical SVM on complex non-linear feature maps.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• QAOA QUBO Optimizer: Max-weight capacity solver prioritizing high-risk fraud cases under investigator constraints.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PERFORMANCE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Empirical Evaluation Metrics (10,000 Test Suite)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94.2%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</a:defRPr>
            </a:pPr>
            <a:r>
              <a:t>Fraud Recall Sensitivity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471 / 500 scams intercepted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B5CF6"/>
                </a:solidFill>
              </a:defRPr>
            </a:pPr>
            <a:r>
              <a:t>3.8%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</a:defRPr>
            </a:pPr>
            <a:r>
              <a:t>False Intervention Rate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Minimal friction on normal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42.5 ms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</a:defRPr>
            </a:pPr>
            <a:r>
              <a:t>API Decision Latency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Sub-50ms real-time inline 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02336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206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43F5E"/>
                </a:solidFill>
              </a:defRPr>
            </a:pPr>
            <a:r>
              <a:t>₹18.45 L</a:t>
            </a:r>
          </a:p>
          <a:p>
            <a:pPr>
              <a:spcBef>
                <a:spcPts val="200"/>
              </a:spcBef>
              <a:defRPr sz="1500" b="1">
                <a:solidFill>
                  <a:srgbClr val="FFFFFF"/>
                </a:solidFill>
              </a:defRPr>
            </a:pPr>
            <a:r>
              <a:t>Protected Financial Value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Prevented loss in synthetic test suite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SUMMARY &amp; BUSINESS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FinShield Quantum: Next-Gen Banking Fraud Firewall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A5E9"/>
                </a:solidFill>
              </a:defRPr>
            </a:pPr>
            <a:r>
              <a:t>Key Takeaways for Judges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✓ Solves the $1.5B+ APP Scam Gap: Detects victim intent manipulation rather than just technical transaction credentials.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✓ Multimodal AI Fusion: Integrates XGBoost, Z-score behavior, NLP coercion context, and NetworkX fraud graph intelligence.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✓ Enterprise Ops &amp; Senior Safety: Dual experience for Fraud Ops and WCAG AAA senior accessibility with family alerts.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✓ Quantum-Ready Security: NIST ML-KEM-512 PQC session encryption paired with Qiskit QSVC and QAOA research.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✓ Empirically Proven: 94.2% Fraud Recall at 42.5ms sub-50ms API response latency.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